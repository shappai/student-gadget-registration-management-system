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17182"/>
            <a:ext cx="3929063" cy="19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3366"/>
                </a:solidFill>
              </a:rPr>
              <a:t>Student Gadget Registration Management System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571500" y="3580274"/>
            <a:ext cx="3571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2C3E50"/>
                </a:solidFill>
              </a:rPr>
              <a:t>A Comprehensive Full-Stack Solution for Educational Institutions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1500" y="4417489"/>
            <a:ext cx="45926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3E50"/>
                </a:solidFill>
              </a:rPr>
              <a:t>Author</a:t>
            </a:r>
            <a:endParaRPr lang="en-US" sz="584" dirty="0"/>
          </a:p>
        </p:txBody>
      </p:sp>
      <p:sp>
        <p:nvSpPr>
          <p:cNvPr id="6" name="Text 3"/>
          <p:cNvSpPr/>
          <p:nvPr/>
        </p:nvSpPr>
        <p:spPr>
          <a:xfrm>
            <a:off x="571500" y="4562149"/>
            <a:ext cx="4592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90E2"/>
                </a:solidFill>
              </a:rPr>
              <a:t>Manus AI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1316515" y="4417489"/>
            <a:ext cx="7558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3E50"/>
                </a:solidFill>
              </a:rPr>
              <a:t>Date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1316515" y="4562149"/>
            <a:ext cx="7558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90E2"/>
                </a:solidFill>
              </a:rPr>
              <a:t>December 2025</a:t>
            </a:r>
            <a:endParaRPr lang="en-US" sz="683" dirty="0"/>
          </a:p>
        </p:txBody>
      </p:sp>
      <p:sp>
        <p:nvSpPr>
          <p:cNvPr id="9" name="Shape 6"/>
          <p:cNvSpPr/>
          <p:nvPr/>
        </p:nvSpPr>
        <p:spPr>
          <a:xfrm>
            <a:off x="5536406" y="1643063"/>
            <a:ext cx="2286000" cy="2286000"/>
          </a:xfrm>
          <a:prstGeom prst="rect">
            <a:avLst/>
          </a:prstGeom>
          <a:solidFill>
            <a:srgbClr val="F0F4F8"/>
          </a:solidFill>
          <a:ln w="18288">
            <a:solidFill>
              <a:srgbClr val="FF6B3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406" y="1643063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" y="1714500"/>
            <a:ext cx="2000250" cy="2000250"/>
          </a:xfrm>
          <a:prstGeom prst="rect">
            <a:avLst/>
          </a:prstGeom>
          <a:solidFill>
            <a:srgbClr val="E8EEF5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7263" y="1757363"/>
            <a:ext cx="1971675" cy="1971675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4A90E2"/>
            </a:solidFill>
            <a:prstDash val="dash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1928813"/>
            <a:ext cx="1571625" cy="1571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29050" y="1370177"/>
            <a:ext cx="488632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Streamlining Device Management in Education</a:t>
            </a:r>
            <a:endParaRPr lang="en-US" sz="1808" dirty="0"/>
          </a:p>
        </p:txBody>
      </p:sp>
      <p:sp>
        <p:nvSpPr>
          <p:cNvPr id="7" name="Shape 3"/>
          <p:cNvSpPr/>
          <p:nvPr/>
        </p:nvSpPr>
        <p:spPr>
          <a:xfrm>
            <a:off x="3829050" y="228742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4"/>
          <p:cNvSpPr/>
          <p:nvPr/>
        </p:nvSpPr>
        <p:spPr>
          <a:xfrm>
            <a:off x="3829050" y="228742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4229100" y="2273136"/>
            <a:ext cx="44862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Core Purpose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4229100" y="2471375"/>
            <a:ext cx="44862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Manage student profiles, register personal electronic gadgets, and track device-related incidents within educational institutions.</a:t>
            </a:r>
            <a:endParaRPr lang="en-US" sz="727" dirty="0"/>
          </a:p>
        </p:txBody>
      </p:sp>
      <p:sp>
        <p:nvSpPr>
          <p:cNvPr id="11" name="Shape 7"/>
          <p:cNvSpPr/>
          <p:nvPr/>
        </p:nvSpPr>
        <p:spPr>
          <a:xfrm>
            <a:off x="3829050" y="2957150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3829050" y="295715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4229100" y="2942862"/>
            <a:ext cx="44862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Target Audience</a:t>
            </a:r>
            <a:endParaRPr lang="en-US" sz="784" dirty="0"/>
          </a:p>
        </p:txBody>
      </p:sp>
      <p:sp>
        <p:nvSpPr>
          <p:cNvPr id="14" name="Text 10"/>
          <p:cNvSpPr/>
          <p:nvPr/>
        </p:nvSpPr>
        <p:spPr>
          <a:xfrm>
            <a:off x="4229100" y="3141101"/>
            <a:ext cx="44862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Universities, colleges, and other educational institutions seeking centralized device management solutions.</a:t>
            </a:r>
            <a:endParaRPr lang="en-US" sz="727" dirty="0"/>
          </a:p>
        </p:txBody>
      </p:sp>
      <p:sp>
        <p:nvSpPr>
          <p:cNvPr id="15" name="Shape 11"/>
          <p:cNvSpPr/>
          <p:nvPr/>
        </p:nvSpPr>
        <p:spPr>
          <a:xfrm>
            <a:off x="3829050" y="3626876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3829050" y="362687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4229100" y="3612589"/>
            <a:ext cx="44862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Key Benefit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4229100" y="3810828"/>
            <a:ext cx="448627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Centralized, efficient, and secure tracking of student-owned devices with comprehensive incident reporting.</a:t>
            </a:r>
            <a:endParaRPr lang="en-US" sz="727" dirty="0"/>
          </a:p>
        </p:txBody>
      </p:sp>
      <p:sp>
        <p:nvSpPr>
          <p:cNvPr id="19" name="Shape 15"/>
          <p:cNvSpPr/>
          <p:nvPr/>
        </p:nvSpPr>
        <p:spPr>
          <a:xfrm>
            <a:off x="3829050" y="4296603"/>
            <a:ext cx="285750" cy="2857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6"/>
          <p:cNvSpPr/>
          <p:nvPr/>
        </p:nvSpPr>
        <p:spPr>
          <a:xfrm>
            <a:off x="3829050" y="429660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4229100" y="4282315"/>
            <a:ext cx="44862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Architecture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4229100" y="4480554"/>
            <a:ext cx="44862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Full-stack application built with RESTful API design for seamless integration and scalability.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1531"/>
            <a:ext cx="87153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Modular Design for Comprehensive Control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600075" y="1415886"/>
            <a:ext cx="428625" cy="428625"/>
          </a:xfrm>
          <a:prstGeom prst="rect">
            <a:avLst/>
          </a:prstGeom>
          <a:solidFill>
            <a:srgbClr val="E8EEF5"/>
          </a:solidFill>
          <a:ln w="18288">
            <a:solidFill>
              <a:srgbClr val="4A90E2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487323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75" y="1958811"/>
            <a:ext cx="3864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Student Management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600075" y="2205270"/>
            <a:ext cx="386476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Register and maintain detailed student profiles with complete CRUD operations.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600075" y="2451004"/>
            <a:ext cx="3864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Emergency contact tracking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Enrollment status monitoring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Department filtering</a:t>
            </a:r>
            <a:endParaRPr lang="en-US" sz="634" dirty="0"/>
          </a:p>
        </p:txBody>
      </p:sp>
      <p:sp>
        <p:nvSpPr>
          <p:cNvPr id="9" name="Shape 5"/>
          <p:cNvSpPr/>
          <p:nvPr/>
        </p:nvSpPr>
        <p:spPr>
          <a:xfrm>
            <a:off x="4850606" y="1415886"/>
            <a:ext cx="428625" cy="428625"/>
          </a:xfrm>
          <a:prstGeom prst="rect">
            <a:avLst/>
          </a:prstGeom>
          <a:solidFill>
            <a:srgbClr val="E8EEF5"/>
          </a:solidFill>
          <a:ln w="18288">
            <a:solidFill>
              <a:srgbClr val="4A90E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044" y="1487323"/>
            <a:ext cx="285750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50606" y="1958811"/>
            <a:ext cx="3864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Gadget Registration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4850606" y="2205270"/>
            <a:ext cx="386476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Track all registered electronic devices with detailed specifications.</a:t>
            </a:r>
            <a:endParaRPr lang="en-US" sz="727" dirty="0"/>
          </a:p>
        </p:txBody>
      </p:sp>
      <p:sp>
        <p:nvSpPr>
          <p:cNvPr id="13" name="Text 8"/>
          <p:cNvSpPr/>
          <p:nvPr/>
        </p:nvSpPr>
        <p:spPr>
          <a:xfrm>
            <a:off x="4850606" y="2451004"/>
            <a:ext cx="3864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Serial/IMEI number tracking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Warranty management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Condition monitoring</a:t>
            </a:r>
            <a:endParaRPr lang="en-US" sz="634" dirty="0"/>
          </a:p>
        </p:txBody>
      </p:sp>
      <p:sp>
        <p:nvSpPr>
          <p:cNvPr id="14" name="Shape 9"/>
          <p:cNvSpPr/>
          <p:nvPr/>
        </p:nvSpPr>
        <p:spPr>
          <a:xfrm>
            <a:off x="600075" y="3386835"/>
            <a:ext cx="428625" cy="428625"/>
          </a:xfrm>
          <a:prstGeom prst="rect">
            <a:avLst/>
          </a:prstGeom>
          <a:solidFill>
            <a:srgbClr val="E8EEF5"/>
          </a:solidFill>
          <a:ln w="18288">
            <a:solidFill>
              <a:srgbClr val="4A90E2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3458273"/>
            <a:ext cx="285750" cy="285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0075" y="3929760"/>
            <a:ext cx="3864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Incident Reporting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600075" y="4176220"/>
            <a:ext cx="386476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Record and manage device-related incidents with comprehensive tracking.</a:t>
            </a:r>
            <a:endParaRPr lang="en-US" sz="727" dirty="0"/>
          </a:p>
        </p:txBody>
      </p:sp>
      <p:sp>
        <p:nvSpPr>
          <p:cNvPr id="18" name="Text 12"/>
          <p:cNvSpPr/>
          <p:nvPr/>
        </p:nvSpPr>
        <p:spPr>
          <a:xfrm>
            <a:off x="600075" y="4421953"/>
            <a:ext cx="3864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Lost/stolen/damaged reports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Status tracking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Police report maintenance</a:t>
            </a:r>
            <a:endParaRPr lang="en-US" sz="634" dirty="0"/>
          </a:p>
        </p:txBody>
      </p:sp>
      <p:sp>
        <p:nvSpPr>
          <p:cNvPr id="19" name="Shape 13"/>
          <p:cNvSpPr/>
          <p:nvPr/>
        </p:nvSpPr>
        <p:spPr>
          <a:xfrm>
            <a:off x="4850606" y="3386835"/>
            <a:ext cx="428625" cy="428625"/>
          </a:xfrm>
          <a:prstGeom prst="rect">
            <a:avLst/>
          </a:prstGeom>
          <a:solidFill>
            <a:srgbClr val="E8EEF5"/>
          </a:solidFill>
          <a:ln w="18288">
            <a:solidFill>
              <a:srgbClr val="4A90E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044" y="3458273"/>
            <a:ext cx="285750" cy="2857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50606" y="3929760"/>
            <a:ext cx="38647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Department Organization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4850606" y="4176220"/>
            <a:ext cx="386476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Structure students and gadgets by academic department for easy management.</a:t>
            </a:r>
            <a:endParaRPr lang="en-US" sz="727" dirty="0"/>
          </a:p>
        </p:txBody>
      </p:sp>
      <p:sp>
        <p:nvSpPr>
          <p:cNvPr id="23" name="Text 16"/>
          <p:cNvSpPr/>
          <p:nvPr/>
        </p:nvSpPr>
        <p:spPr>
          <a:xfrm>
            <a:off x="4850606" y="4421953"/>
            <a:ext cx="386476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CRUD operations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Department statistics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 Hierarchical filtering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377321"/>
            <a:ext cx="3761184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Advanced Tracking and Real-Time Analytics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2258848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258848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728663" y="2244561"/>
            <a:ext cx="34611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Warranty &amp; Insurance Tracking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728663" y="2426726"/>
            <a:ext cx="346114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Dedicated modules for managing policy details and monitoring expiry dates for comprehensive device protection.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428625" y="2862495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862495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728663" y="2848208"/>
            <a:ext cx="34611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Payment Records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728663" y="3030373"/>
            <a:ext cx="346114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Integration for tracking registration fees and related payments with transaction history and status monitoring.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428625" y="3466142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466142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3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728663" y="3451854"/>
            <a:ext cx="34611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Dashboard Analytics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728663" y="3634020"/>
            <a:ext cx="346114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Centralized view of key statistics including total students, gadgets, incidents, and system-wide insights.</a:t>
            </a:r>
            <a:endParaRPr lang="en-US" sz="674" dirty="0"/>
          </a:p>
        </p:txBody>
      </p:sp>
      <p:sp>
        <p:nvSpPr>
          <p:cNvPr id="16" name="Shape 13"/>
          <p:cNvSpPr/>
          <p:nvPr/>
        </p:nvSpPr>
        <p:spPr>
          <a:xfrm>
            <a:off x="428625" y="4069789"/>
            <a:ext cx="200025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4069789"/>
            <a:ext cx="2000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4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728663" y="4055501"/>
            <a:ext cx="34611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Automated Alerts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728663" y="4237667"/>
            <a:ext cx="3461147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Provides proactive notifications for gadgets with expiring registrations, warranties, or insurance policies.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5130998" y="1643063"/>
            <a:ext cx="2714625" cy="2143125"/>
          </a:xfrm>
          <a:prstGeom prst="rect">
            <a:avLst/>
          </a:prstGeom>
          <a:solidFill>
            <a:srgbClr val="E8EEF5"/>
          </a:solidFill>
          <a:ln w="18288">
            <a:solidFill>
              <a:srgbClr val="4A90E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73861" y="1685925"/>
            <a:ext cx="268605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FF6B35"/>
            </a:solidFill>
            <a:prstDash val="dash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998" y="1643063"/>
            <a:ext cx="27146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1531"/>
            <a:ext cx="87153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Robust and Scalable Technical Stack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1415886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549594" y="1477501"/>
            <a:ext cx="1152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B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900113" y="1506968"/>
            <a:ext cx="55177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Backend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64356" y="1887373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Node.js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564356" y="206239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Runtime environment for fast, non-blocking server operations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64356" y="2301711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Express.js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564356" y="2476733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Web framework for building scalable server applications and routing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4679156" y="1415886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4810674" y="1477501"/>
            <a:ext cx="9415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F</a:t>
            </a:r>
            <a:endParaRPr lang="en-US" sz="1193" dirty="0"/>
          </a:p>
        </p:txBody>
      </p:sp>
      <p:sp>
        <p:nvSpPr>
          <p:cNvPr id="13" name="Text 10"/>
          <p:cNvSpPr/>
          <p:nvPr/>
        </p:nvSpPr>
        <p:spPr>
          <a:xfrm>
            <a:off x="5150644" y="1506968"/>
            <a:ext cx="5881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Frontend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814888" y="1887373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HTML5 &amp; CSS3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814888" y="206239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Semantic markup and modern styling for responsive design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814888" y="2301711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Vanilla JavaScript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4814888" y="2476733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Lightweight, high-performance client-side logic without frameworks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428625" y="3386835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6"/>
          <p:cNvSpPr/>
          <p:nvPr/>
        </p:nvSpPr>
        <p:spPr>
          <a:xfrm>
            <a:off x="543762" y="3448450"/>
            <a:ext cx="12688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D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900113" y="3477918"/>
            <a:ext cx="6052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Database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564356" y="3858323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MySQL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564356" y="403334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Reliable relational database for structured data storage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564356" y="4272660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mysql2/promise</a:t>
            </a:r>
            <a:endParaRPr lang="en-US" sz="734" dirty="0"/>
          </a:p>
        </p:txBody>
      </p:sp>
      <p:sp>
        <p:nvSpPr>
          <p:cNvPr id="24" name="Text 21"/>
          <p:cNvSpPr/>
          <p:nvPr/>
        </p:nvSpPr>
        <p:spPr>
          <a:xfrm>
            <a:off x="564356" y="4447682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Promise-based driver for efficient database connections and queries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4679156" y="3386835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3"/>
          <p:cNvSpPr/>
          <p:nvPr/>
        </p:nvSpPr>
        <p:spPr>
          <a:xfrm>
            <a:off x="4798591" y="3448450"/>
            <a:ext cx="11831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A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5150644" y="3477918"/>
            <a:ext cx="10572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API Architecture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4814888" y="3858323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RESTful Design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4814888" y="403334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Standard HTTP methods and JSON payloads for clear communication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814888" y="4272660"/>
            <a:ext cx="390048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CORS Enabled</a:t>
            </a:r>
            <a:endParaRPr lang="en-US" sz="734" dirty="0"/>
          </a:p>
        </p:txBody>
      </p:sp>
      <p:sp>
        <p:nvSpPr>
          <p:cNvPr id="31" name="Text 28"/>
          <p:cNvSpPr/>
          <p:nvPr/>
        </p:nvSpPr>
        <p:spPr>
          <a:xfrm>
            <a:off x="4814888" y="4447682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Cross-origin resource sharing for secure frontend-backend integration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55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1531"/>
            <a:ext cx="87153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Relational Schema for Data Integrity (8 Main Tables)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71500" y="1344448"/>
            <a:ext cx="896764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344448"/>
            <a:ext cx="896764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DEPARTMENT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571500" y="1633770"/>
            <a:ext cx="98608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department_code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571500" y="1792356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department_name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71500" y="1950941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faculty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571500" y="2109527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hod_name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71500" y="2268113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contact_email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3390881" y="1344448"/>
            <a:ext cx="658453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2" name="Text 9"/>
          <p:cNvSpPr/>
          <p:nvPr/>
        </p:nvSpPr>
        <p:spPr>
          <a:xfrm>
            <a:off x="3390881" y="1344448"/>
            <a:ext cx="658453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STUDENT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3390881" y="1633770"/>
            <a:ext cx="6583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student_id</a:t>
            </a:r>
            <a:endParaRPr lang="en-US" sz="634" dirty="0"/>
          </a:p>
        </p:txBody>
      </p:sp>
      <p:sp>
        <p:nvSpPr>
          <p:cNvPr id="14" name="Text 11"/>
          <p:cNvSpPr/>
          <p:nvPr/>
        </p:nvSpPr>
        <p:spPr>
          <a:xfrm>
            <a:off x="3390881" y="1792356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first_name, last_name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390881" y="1950941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email, phone_number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390881" y="2109527"/>
            <a:ext cx="95916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department_code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3390881" y="2268113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level, enrollment_date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6210291" y="1344448"/>
            <a:ext cx="1228167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9" name="Text 16"/>
          <p:cNvSpPr/>
          <p:nvPr/>
        </p:nvSpPr>
        <p:spPr>
          <a:xfrm>
            <a:off x="6210291" y="1344448"/>
            <a:ext cx="1228167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GADGET_CATEGORY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6210291" y="1633770"/>
            <a:ext cx="70619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category_id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6210291" y="1792356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category_name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6210291" y="1950941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description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6210291" y="2109527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specifications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571500" y="2569573"/>
            <a:ext cx="674415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569573"/>
            <a:ext cx="674415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PAYMENT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571500" y="2858895"/>
            <a:ext cx="7110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payment_id</a:t>
            </a:r>
            <a:endParaRPr lang="en-US" sz="634" dirty="0"/>
          </a:p>
        </p:txBody>
      </p:sp>
      <p:sp>
        <p:nvSpPr>
          <p:cNvPr id="27" name="Text 24"/>
          <p:cNvSpPr/>
          <p:nvPr/>
        </p:nvSpPr>
        <p:spPr>
          <a:xfrm>
            <a:off x="571500" y="3017481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amount, payment_date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571500" y="3176067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payment_method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571500" y="3334652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transaction_reference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571500" y="3493238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status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3390881" y="2569573"/>
            <a:ext cx="1469631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2" name="Text 29"/>
          <p:cNvSpPr/>
          <p:nvPr/>
        </p:nvSpPr>
        <p:spPr>
          <a:xfrm>
            <a:off x="3390881" y="2569573"/>
            <a:ext cx="1469631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GADGET_REGISTRATION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3390881" y="2858895"/>
            <a:ext cx="8481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registration_id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3390881" y="3017481"/>
            <a:ext cx="6364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student_id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3390881" y="3176067"/>
            <a:ext cx="6837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category_id</a:t>
            </a:r>
            <a:endParaRPr lang="en-US" sz="634" dirty="0"/>
          </a:p>
        </p:txBody>
      </p:sp>
      <p:sp>
        <p:nvSpPr>
          <p:cNvPr id="36" name="Text 33"/>
          <p:cNvSpPr/>
          <p:nvPr/>
        </p:nvSpPr>
        <p:spPr>
          <a:xfrm>
            <a:off x="3390881" y="3334652"/>
            <a:ext cx="68853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payment_id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3390881" y="3493238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device_name, brand, model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3390881" y="3651824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serial_number, imei_number</a:t>
            </a:r>
            <a:endParaRPr lang="en-US" sz="674" dirty="0"/>
          </a:p>
        </p:txBody>
      </p:sp>
      <p:sp>
        <p:nvSpPr>
          <p:cNvPr id="39" name="Shape 36"/>
          <p:cNvSpPr/>
          <p:nvPr/>
        </p:nvSpPr>
        <p:spPr>
          <a:xfrm>
            <a:off x="6210291" y="2569573"/>
            <a:ext cx="776157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0" name="Text 37"/>
          <p:cNvSpPr/>
          <p:nvPr/>
        </p:nvSpPr>
        <p:spPr>
          <a:xfrm>
            <a:off x="6210291" y="2569573"/>
            <a:ext cx="776157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WARRANTY</a:t>
            </a:r>
            <a:endParaRPr lang="en-US" sz="734" dirty="0"/>
          </a:p>
        </p:txBody>
      </p:sp>
      <p:sp>
        <p:nvSpPr>
          <p:cNvPr id="41" name="Text 38"/>
          <p:cNvSpPr/>
          <p:nvPr/>
        </p:nvSpPr>
        <p:spPr>
          <a:xfrm>
            <a:off x="6210291" y="2858895"/>
            <a:ext cx="72419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warranty_id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6210291" y="3017481"/>
            <a:ext cx="8195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registration_id</a:t>
            </a:r>
            <a:endParaRPr lang="en-US" sz="634" dirty="0"/>
          </a:p>
        </p:txBody>
      </p:sp>
      <p:sp>
        <p:nvSpPr>
          <p:cNvPr id="43" name="Text 40"/>
          <p:cNvSpPr/>
          <p:nvPr/>
        </p:nvSpPr>
        <p:spPr>
          <a:xfrm>
            <a:off x="6210291" y="3176067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start_date, end_date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6210291" y="3334652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warranty_type, provider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6210291" y="3493238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terms</a:t>
            </a:r>
            <a:endParaRPr lang="en-US" sz="674" dirty="0"/>
          </a:p>
        </p:txBody>
      </p:sp>
      <p:sp>
        <p:nvSpPr>
          <p:cNvPr id="46" name="Shape 43"/>
          <p:cNvSpPr/>
          <p:nvPr/>
        </p:nvSpPr>
        <p:spPr>
          <a:xfrm>
            <a:off x="571500" y="3953284"/>
            <a:ext cx="1262909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47" name="Text 44"/>
          <p:cNvSpPr/>
          <p:nvPr/>
        </p:nvSpPr>
        <p:spPr>
          <a:xfrm>
            <a:off x="571500" y="3953284"/>
            <a:ext cx="1262909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INSURANCE_POLICY</a:t>
            </a:r>
            <a:endParaRPr lang="en-US" sz="734" dirty="0"/>
          </a:p>
        </p:txBody>
      </p:sp>
      <p:sp>
        <p:nvSpPr>
          <p:cNvPr id="48" name="Text 45"/>
          <p:cNvSpPr/>
          <p:nvPr/>
        </p:nvSpPr>
        <p:spPr>
          <a:xfrm>
            <a:off x="571500" y="4242606"/>
            <a:ext cx="56937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policy_id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571500" y="4401192"/>
            <a:ext cx="8195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registration_id</a:t>
            </a:r>
            <a:endParaRPr lang="en-US" sz="634" dirty="0"/>
          </a:p>
        </p:txBody>
      </p:sp>
      <p:sp>
        <p:nvSpPr>
          <p:cNvPr id="50" name="Text 47"/>
          <p:cNvSpPr/>
          <p:nvPr/>
        </p:nvSpPr>
        <p:spPr>
          <a:xfrm>
            <a:off x="571500" y="4559777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policy_number, provider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571500" y="4718363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start_date, end_date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571500" y="4876949"/>
            <a:ext cx="250505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coverage_amount, premium</a:t>
            </a:r>
            <a:endParaRPr lang="en-US" sz="674" dirty="0"/>
          </a:p>
        </p:txBody>
      </p:sp>
      <p:sp>
        <p:nvSpPr>
          <p:cNvPr id="53" name="Shape 50"/>
          <p:cNvSpPr/>
          <p:nvPr/>
        </p:nvSpPr>
        <p:spPr>
          <a:xfrm>
            <a:off x="3390881" y="3953284"/>
            <a:ext cx="1183798" cy="232172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54" name="Text 51"/>
          <p:cNvSpPr/>
          <p:nvPr/>
        </p:nvSpPr>
        <p:spPr>
          <a:xfrm>
            <a:off x="3390881" y="3953284"/>
            <a:ext cx="1183798" cy="232172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</a:rPr>
              <a:t>INCIDENT_REPORT</a:t>
            </a:r>
            <a:endParaRPr lang="en-US" sz="734" dirty="0"/>
          </a:p>
        </p:txBody>
      </p:sp>
      <p:sp>
        <p:nvSpPr>
          <p:cNvPr id="55" name="Text 52"/>
          <p:cNvSpPr/>
          <p:nvPr/>
        </p:nvSpPr>
        <p:spPr>
          <a:xfrm>
            <a:off x="3390881" y="4242606"/>
            <a:ext cx="6762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PK: incident_id</a:t>
            </a:r>
            <a:endParaRPr lang="en-US" sz="634" dirty="0"/>
          </a:p>
        </p:txBody>
      </p:sp>
      <p:sp>
        <p:nvSpPr>
          <p:cNvPr id="56" name="Text 53"/>
          <p:cNvSpPr/>
          <p:nvPr/>
        </p:nvSpPr>
        <p:spPr>
          <a:xfrm>
            <a:off x="3390881" y="4401192"/>
            <a:ext cx="8195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registration_id</a:t>
            </a:r>
            <a:endParaRPr lang="en-US" sz="634" dirty="0"/>
          </a:p>
        </p:txBody>
      </p:sp>
      <p:sp>
        <p:nvSpPr>
          <p:cNvPr id="57" name="Text 54"/>
          <p:cNvSpPr/>
          <p:nvPr/>
        </p:nvSpPr>
        <p:spPr>
          <a:xfrm>
            <a:off x="3390881" y="4559777"/>
            <a:ext cx="6364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FK: student_id</a:t>
            </a:r>
            <a:endParaRPr lang="en-US" sz="634" dirty="0"/>
          </a:p>
        </p:txBody>
      </p:sp>
      <p:sp>
        <p:nvSpPr>
          <p:cNvPr id="58" name="Text 55"/>
          <p:cNvSpPr/>
          <p:nvPr/>
        </p:nvSpPr>
        <p:spPr>
          <a:xfrm>
            <a:off x="3390881" y="4718363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incident_date, incident_type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3390881" y="4876949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description, location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3390881" y="5035534"/>
            <a:ext cx="250508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status, resolution_date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50094"/>
            <a:ext cx="87153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RESTful API for Core CRUD Operations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273011"/>
            <a:ext cx="3283083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Students API (/api/students)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428625" y="1690920"/>
            <a:ext cx="357188" cy="20002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690920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7" name="Text 4"/>
          <p:cNvSpPr/>
          <p:nvPr/>
        </p:nvSpPr>
        <p:spPr>
          <a:xfrm>
            <a:off x="871538" y="1676633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/api/students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871538" y="1832009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Retrieve all students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28625" y="2066302"/>
            <a:ext cx="357188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066302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871538" y="2052014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/api/students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871538" y="2207391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Create new student record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28625" y="2441684"/>
            <a:ext cx="357188" cy="20002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441684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15" name="Text 12"/>
          <p:cNvSpPr/>
          <p:nvPr/>
        </p:nvSpPr>
        <p:spPr>
          <a:xfrm>
            <a:off x="871538" y="2427396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/api/students/:id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871538" y="2582773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Retrieve student by ID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428625" y="2817065"/>
            <a:ext cx="357188" cy="200025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2817065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PUT</a:t>
            </a:r>
            <a:endParaRPr lang="en-US" sz="534" dirty="0"/>
          </a:p>
        </p:txBody>
      </p:sp>
      <p:sp>
        <p:nvSpPr>
          <p:cNvPr id="19" name="Text 16"/>
          <p:cNvSpPr/>
          <p:nvPr/>
        </p:nvSpPr>
        <p:spPr>
          <a:xfrm>
            <a:off x="871538" y="2802778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/api/students/:id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871538" y="2958154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Update student record</a:t>
            </a:r>
            <a:endParaRPr lang="en-US" sz="621" dirty="0"/>
          </a:p>
        </p:txBody>
      </p:sp>
      <p:sp>
        <p:nvSpPr>
          <p:cNvPr id="21" name="Shape 18"/>
          <p:cNvSpPr/>
          <p:nvPr/>
        </p:nvSpPr>
        <p:spPr>
          <a:xfrm>
            <a:off x="428625" y="3192447"/>
            <a:ext cx="357188" cy="200025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3192447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DEL</a:t>
            </a:r>
            <a:endParaRPr lang="en-US" sz="534" dirty="0"/>
          </a:p>
        </p:txBody>
      </p:sp>
      <p:sp>
        <p:nvSpPr>
          <p:cNvPr id="23" name="Text 20"/>
          <p:cNvSpPr/>
          <p:nvPr/>
        </p:nvSpPr>
        <p:spPr>
          <a:xfrm>
            <a:off x="871538" y="3178159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/api/students/:id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871538" y="3333536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Delete student record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428625" y="3567829"/>
            <a:ext cx="357188" cy="20002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6" name="Text 23"/>
          <p:cNvSpPr/>
          <p:nvPr/>
        </p:nvSpPr>
        <p:spPr>
          <a:xfrm>
            <a:off x="428625" y="3567829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27" name="Text 24"/>
          <p:cNvSpPr/>
          <p:nvPr/>
        </p:nvSpPr>
        <p:spPr>
          <a:xfrm>
            <a:off x="871538" y="3553541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/api/students/dept/:code</a:t>
            </a:r>
            <a:endParaRPr lang="en-US" sz="634" dirty="0"/>
          </a:p>
        </p:txBody>
      </p:sp>
      <p:sp>
        <p:nvSpPr>
          <p:cNvPr id="28" name="Text 25"/>
          <p:cNvSpPr/>
          <p:nvPr/>
        </p:nvSpPr>
        <p:spPr>
          <a:xfrm>
            <a:off x="871538" y="3708918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Filter students by department</a:t>
            </a:r>
            <a:endParaRPr lang="en-US" sz="621" dirty="0"/>
          </a:p>
        </p:txBody>
      </p:sp>
      <p:sp>
        <p:nvSpPr>
          <p:cNvPr id="29" name="Text 26"/>
          <p:cNvSpPr/>
          <p:nvPr/>
        </p:nvSpPr>
        <p:spPr>
          <a:xfrm>
            <a:off x="3997458" y="1273011"/>
            <a:ext cx="3283083" cy="2607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Gadgets API (/api/gadgets)</a:t>
            </a:r>
            <a:endParaRPr lang="en-US" sz="885" dirty="0"/>
          </a:p>
        </p:txBody>
      </p:sp>
      <p:sp>
        <p:nvSpPr>
          <p:cNvPr id="30" name="Shape 27"/>
          <p:cNvSpPr/>
          <p:nvPr/>
        </p:nvSpPr>
        <p:spPr>
          <a:xfrm>
            <a:off x="3997458" y="1690920"/>
            <a:ext cx="357188" cy="20002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1" name="Text 28"/>
          <p:cNvSpPr/>
          <p:nvPr/>
        </p:nvSpPr>
        <p:spPr>
          <a:xfrm>
            <a:off x="3997458" y="1690920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32" name="Text 29"/>
          <p:cNvSpPr/>
          <p:nvPr/>
        </p:nvSpPr>
        <p:spPr>
          <a:xfrm>
            <a:off x="4440371" y="1676633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/api/gadgets</a:t>
            </a:r>
            <a:endParaRPr lang="en-US" sz="634" dirty="0"/>
          </a:p>
        </p:txBody>
      </p:sp>
      <p:sp>
        <p:nvSpPr>
          <p:cNvPr id="33" name="Text 30"/>
          <p:cNvSpPr/>
          <p:nvPr/>
        </p:nvSpPr>
        <p:spPr>
          <a:xfrm>
            <a:off x="4440371" y="1832009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Retrieve all registrations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3997458" y="2066302"/>
            <a:ext cx="357188" cy="2000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5" name="Text 32"/>
          <p:cNvSpPr/>
          <p:nvPr/>
        </p:nvSpPr>
        <p:spPr>
          <a:xfrm>
            <a:off x="3997458" y="2066302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4440371" y="2052014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/api/gadgets</a:t>
            </a:r>
            <a:endParaRPr lang="en-US" sz="634" dirty="0"/>
          </a:p>
        </p:txBody>
      </p:sp>
      <p:sp>
        <p:nvSpPr>
          <p:cNvPr id="37" name="Text 34"/>
          <p:cNvSpPr/>
          <p:nvPr/>
        </p:nvSpPr>
        <p:spPr>
          <a:xfrm>
            <a:off x="4440371" y="2207391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Register new gadget</a:t>
            </a:r>
            <a:endParaRPr lang="en-US" sz="621" dirty="0"/>
          </a:p>
        </p:txBody>
      </p:sp>
      <p:sp>
        <p:nvSpPr>
          <p:cNvPr id="38" name="Shape 35"/>
          <p:cNvSpPr/>
          <p:nvPr/>
        </p:nvSpPr>
        <p:spPr>
          <a:xfrm>
            <a:off x="3997458" y="2441684"/>
            <a:ext cx="357188" cy="20002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9" name="Text 36"/>
          <p:cNvSpPr/>
          <p:nvPr/>
        </p:nvSpPr>
        <p:spPr>
          <a:xfrm>
            <a:off x="3997458" y="2441684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40" name="Text 37"/>
          <p:cNvSpPr/>
          <p:nvPr/>
        </p:nvSpPr>
        <p:spPr>
          <a:xfrm>
            <a:off x="4440371" y="2427396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/api/gadgets/:id</a:t>
            </a:r>
            <a:endParaRPr lang="en-US" sz="634" dirty="0"/>
          </a:p>
        </p:txBody>
      </p:sp>
      <p:sp>
        <p:nvSpPr>
          <p:cNvPr id="41" name="Text 38"/>
          <p:cNvSpPr/>
          <p:nvPr/>
        </p:nvSpPr>
        <p:spPr>
          <a:xfrm>
            <a:off x="4440371" y="2582773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Retrieve gadget by ID</a:t>
            </a:r>
            <a:endParaRPr lang="en-US" sz="621" dirty="0"/>
          </a:p>
        </p:txBody>
      </p:sp>
      <p:sp>
        <p:nvSpPr>
          <p:cNvPr id="42" name="Shape 39"/>
          <p:cNvSpPr/>
          <p:nvPr/>
        </p:nvSpPr>
        <p:spPr>
          <a:xfrm>
            <a:off x="3997458" y="2817065"/>
            <a:ext cx="357188" cy="200025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43" name="Text 40"/>
          <p:cNvSpPr/>
          <p:nvPr/>
        </p:nvSpPr>
        <p:spPr>
          <a:xfrm>
            <a:off x="3997458" y="2817065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PUT</a:t>
            </a:r>
            <a:endParaRPr lang="en-US" sz="534" dirty="0"/>
          </a:p>
        </p:txBody>
      </p:sp>
      <p:sp>
        <p:nvSpPr>
          <p:cNvPr id="44" name="Text 41"/>
          <p:cNvSpPr/>
          <p:nvPr/>
        </p:nvSpPr>
        <p:spPr>
          <a:xfrm>
            <a:off x="4440371" y="2802778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/api/gadgets/:id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4440371" y="2958154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Update gadget registration</a:t>
            </a:r>
            <a:endParaRPr lang="en-US" sz="621" dirty="0"/>
          </a:p>
        </p:txBody>
      </p:sp>
      <p:sp>
        <p:nvSpPr>
          <p:cNvPr id="46" name="Shape 43"/>
          <p:cNvSpPr/>
          <p:nvPr/>
        </p:nvSpPr>
        <p:spPr>
          <a:xfrm>
            <a:off x="3997458" y="3192447"/>
            <a:ext cx="357188" cy="200025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7" name="Text 44"/>
          <p:cNvSpPr/>
          <p:nvPr/>
        </p:nvSpPr>
        <p:spPr>
          <a:xfrm>
            <a:off x="3997458" y="3192447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DEL</a:t>
            </a:r>
            <a:endParaRPr lang="en-US" sz="534" dirty="0"/>
          </a:p>
        </p:txBody>
      </p:sp>
      <p:sp>
        <p:nvSpPr>
          <p:cNvPr id="48" name="Text 45"/>
          <p:cNvSpPr/>
          <p:nvPr/>
        </p:nvSpPr>
        <p:spPr>
          <a:xfrm>
            <a:off x="4440371" y="3178159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/api/gadgets/:id</a:t>
            </a:r>
            <a:endParaRPr lang="en-US" sz="634" dirty="0"/>
          </a:p>
        </p:txBody>
      </p:sp>
      <p:sp>
        <p:nvSpPr>
          <p:cNvPr id="49" name="Text 46"/>
          <p:cNvSpPr/>
          <p:nvPr/>
        </p:nvSpPr>
        <p:spPr>
          <a:xfrm>
            <a:off x="4440371" y="3333536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Delete gadget registration</a:t>
            </a:r>
            <a:endParaRPr lang="en-US" sz="621" dirty="0"/>
          </a:p>
        </p:txBody>
      </p:sp>
      <p:sp>
        <p:nvSpPr>
          <p:cNvPr id="50" name="Shape 47"/>
          <p:cNvSpPr/>
          <p:nvPr/>
        </p:nvSpPr>
        <p:spPr>
          <a:xfrm>
            <a:off x="3997458" y="3567829"/>
            <a:ext cx="357188" cy="20002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1" name="Text 48"/>
          <p:cNvSpPr/>
          <p:nvPr/>
        </p:nvSpPr>
        <p:spPr>
          <a:xfrm>
            <a:off x="3997458" y="3567829"/>
            <a:ext cx="3571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52" name="Text 49"/>
          <p:cNvSpPr/>
          <p:nvPr/>
        </p:nvSpPr>
        <p:spPr>
          <a:xfrm>
            <a:off x="4440371" y="3553541"/>
            <a:ext cx="284017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/api/gadgets/student/:id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4440371" y="3708918"/>
            <a:ext cx="284017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Get gadgets by student</a:t>
            </a:r>
            <a:endParaRPr lang="en-US" sz="621" dirty="0"/>
          </a:p>
        </p:txBody>
      </p:sp>
      <p:sp>
        <p:nvSpPr>
          <p:cNvPr id="54" name="Shape 51"/>
          <p:cNvSpPr/>
          <p:nvPr/>
        </p:nvSpPr>
        <p:spPr>
          <a:xfrm>
            <a:off x="7566292" y="1850929"/>
            <a:ext cx="1149083" cy="2714625"/>
          </a:xfrm>
          <a:prstGeom prst="rect">
            <a:avLst/>
          </a:prstGeom>
          <a:solidFill>
            <a:srgbClr val="E8EEF5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609154" y="1893791"/>
            <a:ext cx="1120508" cy="26860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4A90E2"/>
            </a:solidFill>
            <a:prstDash val="dash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292" y="1850929"/>
            <a:ext cx="1149083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1531"/>
            <a:ext cx="87153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Getting Started in 4 Simple Steps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380167"/>
            <a:ext cx="4000500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Prerequisites</a:t>
            </a:r>
            <a:endParaRPr lang="en-US" sz="784" dirty="0"/>
          </a:p>
        </p:txBody>
      </p:sp>
      <p:sp>
        <p:nvSpPr>
          <p:cNvPr id="5" name="Shape 2"/>
          <p:cNvSpPr/>
          <p:nvPr/>
        </p:nvSpPr>
        <p:spPr>
          <a:xfrm>
            <a:off x="428625" y="1778431"/>
            <a:ext cx="171450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77843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685800" y="1764143"/>
            <a:ext cx="5380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Node.js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685800" y="1914162"/>
            <a:ext cx="53801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v14 or higher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28625" y="2158836"/>
            <a:ext cx="171450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158836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685800" y="2144548"/>
            <a:ext cx="85984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npm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85800" y="2294567"/>
            <a:ext cx="8598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Bundled with Node.js</a:t>
            </a:r>
            <a:endParaRPr lang="en-US" sz="621" dirty="0"/>
          </a:p>
        </p:txBody>
      </p:sp>
      <p:sp>
        <p:nvSpPr>
          <p:cNvPr id="13" name="Shape 10"/>
          <p:cNvSpPr/>
          <p:nvPr/>
        </p:nvSpPr>
        <p:spPr>
          <a:xfrm>
            <a:off x="428625" y="2539240"/>
            <a:ext cx="171450" cy="17145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539240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✓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85800" y="2524953"/>
            <a:ext cx="68951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MySQL Server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685800" y="2674972"/>
            <a:ext cx="68951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C3E50"/>
                </a:solidFill>
              </a:rPr>
              <a:t>v5.7 or higher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4714875" y="1380167"/>
            <a:ext cx="4000500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Installation Steps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714875" y="1764143"/>
            <a:ext cx="228600" cy="2286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4875" y="176414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1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029200" y="1810578"/>
            <a:ext cx="104524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Install Dependencies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5029200" y="2078468"/>
            <a:ext cx="3686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Navigate to project root and run: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5029200" y="2303497"/>
            <a:ext cx="3686175" cy="291443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9200" y="2303497"/>
            <a:ext cx="28575" cy="29144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2303497"/>
            <a:ext cx="3686175" cy="29144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003366"/>
                </a:solidFill>
              </a:rPr>
              <a:t>npm install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5029200" y="2680664"/>
            <a:ext cx="36861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Installs: express, cors, mysql2/promise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4714875" y="2991417"/>
            <a:ext cx="228600" cy="2286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7" name="Text 24"/>
          <p:cNvSpPr/>
          <p:nvPr/>
        </p:nvSpPr>
        <p:spPr>
          <a:xfrm>
            <a:off x="4714875" y="2991417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2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029200" y="3037852"/>
            <a:ext cx="115184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Setup MySQL Database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029200" y="3305742"/>
            <a:ext cx="142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a)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5229225" y="3305742"/>
            <a:ext cx="1854696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Open MySQL Workbench or command line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5029200" y="3511460"/>
            <a:ext cx="142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b)</a:t>
            </a:r>
            <a:endParaRPr lang="en-US" sz="634" dirty="0"/>
          </a:p>
        </p:txBody>
      </p:sp>
      <p:sp>
        <p:nvSpPr>
          <p:cNvPr id="32" name="Text 29"/>
          <p:cNvSpPr/>
          <p:nvPr/>
        </p:nvSpPr>
        <p:spPr>
          <a:xfrm>
            <a:off x="5229225" y="3511460"/>
            <a:ext cx="1052503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Execute sql script.txt file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5029200" y="3717178"/>
            <a:ext cx="1428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FF6B35"/>
                </a:solidFill>
              </a:rPr>
              <a:t>c)</a:t>
            </a:r>
            <a:endParaRPr lang="en-US" sz="634" dirty="0"/>
          </a:p>
        </p:txBody>
      </p:sp>
      <p:sp>
        <p:nvSpPr>
          <p:cNvPr id="34" name="Text 31"/>
          <p:cNvSpPr/>
          <p:nvPr/>
        </p:nvSpPr>
        <p:spPr>
          <a:xfrm>
            <a:off x="5229225" y="3717178"/>
            <a:ext cx="1815964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Creates student_gadget_system database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2020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21531"/>
            <a:ext cx="8715375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Configuration and Launch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1380167"/>
            <a:ext cx="257175" cy="25717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380167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771525" y="1431066"/>
            <a:ext cx="18101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Configure Database Connection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771525" y="1723067"/>
            <a:ext cx="79438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Edit </a:t>
            </a:r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config/database.js</a:t>
            </a:r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 and set your MySQL password: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771525" y="2005245"/>
            <a:ext cx="7943850" cy="1434331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Shape 6"/>
          <p:cNvSpPr/>
          <p:nvPr/>
        </p:nvSpPr>
        <p:spPr>
          <a:xfrm>
            <a:off x="771525" y="2005245"/>
            <a:ext cx="28575" cy="143433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885825" y="2105258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003366"/>
                </a:solidFill>
              </a:rPr>
              <a:t>const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 mysql = 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003366"/>
                </a:solidFill>
              </a:rPr>
              <a:t>require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(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6B35"/>
                </a:solidFill>
              </a:rPr>
              <a:t>'mysql2/promise'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);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885825" y="2259546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003366"/>
                </a:solidFill>
              </a:rPr>
              <a:t>const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 pool = mysql.</a:t>
            </a:r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003366"/>
                </a:solidFill>
              </a:rPr>
              <a:t>createPool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({</a:t>
            </a:r>
            <a:endParaRPr lang="en-US" sz="534" dirty="0"/>
          </a:p>
        </p:txBody>
      </p:sp>
      <p:sp>
        <p:nvSpPr>
          <p:cNvPr id="12" name="Text 9"/>
          <p:cNvSpPr/>
          <p:nvPr/>
        </p:nvSpPr>
        <p:spPr>
          <a:xfrm>
            <a:off x="885825" y="2413834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host: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6B35"/>
                </a:solidFill>
              </a:rPr>
              <a:t>'localhost'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,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885825" y="2568122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user: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6B35"/>
                </a:solidFill>
              </a:rPr>
              <a:t>'root'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,</a:t>
            </a:r>
            <a:endParaRPr lang="en-US" sz="568" dirty="0"/>
          </a:p>
        </p:txBody>
      </p:sp>
      <p:sp>
        <p:nvSpPr>
          <p:cNvPr id="14" name="Text 11"/>
          <p:cNvSpPr/>
          <p:nvPr/>
        </p:nvSpPr>
        <p:spPr>
          <a:xfrm>
            <a:off x="885825" y="2722411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password: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6B35"/>
                </a:solidFill>
              </a:rPr>
              <a:t>'YOUR_MYSQL_PASSWORD'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,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4A90E2"/>
                </a:solidFill>
              </a:rPr>
              <a:t>// ← Replace with your password</a:t>
            </a:r>
            <a:endParaRPr lang="en-US" sz="568" dirty="0"/>
          </a:p>
        </p:txBody>
      </p:sp>
      <p:sp>
        <p:nvSpPr>
          <p:cNvPr id="15" name="Text 12"/>
          <p:cNvSpPr/>
          <p:nvPr/>
        </p:nvSpPr>
        <p:spPr>
          <a:xfrm>
            <a:off x="885825" y="2876699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database: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6B35"/>
                </a:solidFill>
              </a:rPr>
              <a:t>'student_gadget_system'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,</a:t>
            </a:r>
            <a:endParaRPr lang="en-US" sz="568" dirty="0"/>
          </a:p>
        </p:txBody>
      </p:sp>
      <p:sp>
        <p:nvSpPr>
          <p:cNvPr id="16" name="Text 13"/>
          <p:cNvSpPr/>
          <p:nvPr/>
        </p:nvSpPr>
        <p:spPr>
          <a:xfrm>
            <a:off x="885825" y="3030987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port: </a:t>
            </a:r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FF6B35"/>
                </a:solidFill>
              </a:rPr>
              <a:t>3306</a:t>
            </a:r>
            <a:endParaRPr lang="en-US" sz="568" dirty="0"/>
          </a:p>
        </p:txBody>
      </p:sp>
      <p:sp>
        <p:nvSpPr>
          <p:cNvPr id="17" name="Text 14"/>
          <p:cNvSpPr/>
          <p:nvPr/>
        </p:nvSpPr>
        <p:spPr>
          <a:xfrm>
            <a:off x="885825" y="3185275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});</a:t>
            </a:r>
            <a:endParaRPr lang="en-US" sz="568" dirty="0"/>
          </a:p>
        </p:txBody>
      </p:sp>
      <p:sp>
        <p:nvSpPr>
          <p:cNvPr id="18" name="Shape 15"/>
          <p:cNvSpPr/>
          <p:nvPr/>
        </p:nvSpPr>
        <p:spPr>
          <a:xfrm>
            <a:off x="428625" y="3653889"/>
            <a:ext cx="257175" cy="257175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365388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771525" y="3704788"/>
            <a:ext cx="9017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</a:rPr>
              <a:t>Start the Server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771525" y="3996789"/>
            <a:ext cx="79438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Run the following command: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771525" y="4278967"/>
            <a:ext cx="7943850" cy="354313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3" name="Shape 20"/>
          <p:cNvSpPr/>
          <p:nvPr/>
        </p:nvSpPr>
        <p:spPr>
          <a:xfrm>
            <a:off x="771525" y="4278967"/>
            <a:ext cx="28575" cy="35431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1"/>
          <p:cNvSpPr/>
          <p:nvPr/>
        </p:nvSpPr>
        <p:spPr>
          <a:xfrm>
            <a:off x="885825" y="4378979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npm start</a:t>
            </a:r>
            <a:endParaRPr lang="en-US" sz="568" dirty="0"/>
          </a:p>
        </p:txBody>
      </p:sp>
      <p:sp>
        <p:nvSpPr>
          <p:cNvPr id="25" name="Text 22"/>
          <p:cNvSpPr/>
          <p:nvPr/>
        </p:nvSpPr>
        <p:spPr>
          <a:xfrm>
            <a:off x="771525" y="4719005"/>
            <a:ext cx="79438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Expected output:</a:t>
            </a:r>
            <a:endParaRPr lang="en-US" sz="674" dirty="0"/>
          </a:p>
        </p:txBody>
      </p:sp>
      <p:sp>
        <p:nvSpPr>
          <p:cNvPr id="26" name="Shape 23"/>
          <p:cNvSpPr/>
          <p:nvPr/>
        </p:nvSpPr>
        <p:spPr>
          <a:xfrm>
            <a:off x="771525" y="5001183"/>
            <a:ext cx="7943850" cy="354313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Shape 24"/>
          <p:cNvSpPr/>
          <p:nvPr/>
        </p:nvSpPr>
        <p:spPr>
          <a:xfrm>
            <a:off x="771525" y="5001183"/>
            <a:ext cx="28575" cy="354313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5"/>
          <p:cNvSpPr/>
          <p:nvPr/>
        </p:nvSpPr>
        <p:spPr>
          <a:xfrm>
            <a:off x="885825" y="5101196"/>
            <a:ext cx="7715250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68" dirty="0">
                <a:solidFill>
                  <a:srgbClr val="003366"/>
                </a:solidFill>
              </a:rPr>
              <a:t>Server running on http://localhost:3000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771525" y="5441221"/>
            <a:ext cx="794385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003366"/>
                </a:solidFill>
              </a:rPr>
              <a:t>Access Application Pages: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771525" y="5682323"/>
            <a:ext cx="428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3366"/>
                </a:solidFill>
              </a:rPr>
              <a:t>Home:</a:t>
            </a:r>
            <a:endParaRPr lang="en-US" sz="584" dirty="0"/>
          </a:p>
        </p:txBody>
      </p:sp>
      <p:sp>
        <p:nvSpPr>
          <p:cNvPr id="31" name="Text 28"/>
          <p:cNvSpPr/>
          <p:nvPr/>
        </p:nvSpPr>
        <p:spPr>
          <a:xfrm>
            <a:off x="1257300" y="5682323"/>
            <a:ext cx="8675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90E2"/>
                </a:solidFill>
              </a:rPr>
              <a:t>http://localhost:3000/</a:t>
            </a: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786313" y="5682323"/>
            <a:ext cx="48075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3366"/>
                </a:solidFill>
              </a:rPr>
              <a:t>Dashboard:</a:t>
            </a:r>
            <a:endParaRPr lang="en-US" sz="584" dirty="0"/>
          </a:p>
        </p:txBody>
      </p:sp>
      <p:sp>
        <p:nvSpPr>
          <p:cNvPr id="33" name="Text 30"/>
          <p:cNvSpPr/>
          <p:nvPr/>
        </p:nvSpPr>
        <p:spPr>
          <a:xfrm>
            <a:off x="5324215" y="5682323"/>
            <a:ext cx="130150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90E2"/>
                </a:solidFill>
              </a:rPr>
              <a:t>http://localhost:3000/dashboard</a:t>
            </a:r>
            <a:endParaRPr lang="en-US" sz="621" dirty="0"/>
          </a:p>
        </p:txBody>
      </p:sp>
      <p:sp>
        <p:nvSpPr>
          <p:cNvPr id="34" name="Text 31"/>
          <p:cNvSpPr/>
          <p:nvPr/>
        </p:nvSpPr>
        <p:spPr>
          <a:xfrm>
            <a:off x="771525" y="5884134"/>
            <a:ext cx="428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3366"/>
                </a:solidFill>
              </a:rPr>
              <a:t>Students:</a:t>
            </a:r>
            <a:endParaRPr lang="en-US" sz="584" dirty="0"/>
          </a:p>
        </p:txBody>
      </p:sp>
      <p:sp>
        <p:nvSpPr>
          <p:cNvPr id="35" name="Text 32"/>
          <p:cNvSpPr/>
          <p:nvPr/>
        </p:nvSpPr>
        <p:spPr>
          <a:xfrm>
            <a:off x="1257300" y="5884134"/>
            <a:ext cx="121859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90E2"/>
                </a:solidFill>
              </a:rPr>
              <a:t>http://localhost:3000/students</a:t>
            </a:r>
            <a:endParaRPr lang="en-US" sz="621" dirty="0"/>
          </a:p>
        </p:txBody>
      </p:sp>
      <p:sp>
        <p:nvSpPr>
          <p:cNvPr id="36" name="Text 33"/>
          <p:cNvSpPr/>
          <p:nvPr/>
        </p:nvSpPr>
        <p:spPr>
          <a:xfrm>
            <a:off x="4786313" y="5884134"/>
            <a:ext cx="428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3366"/>
                </a:solidFill>
              </a:rPr>
              <a:t>Gadgets:</a:t>
            </a:r>
            <a:endParaRPr lang="en-US" sz="584" dirty="0"/>
          </a:p>
        </p:txBody>
      </p:sp>
      <p:sp>
        <p:nvSpPr>
          <p:cNvPr id="37" name="Text 34"/>
          <p:cNvSpPr/>
          <p:nvPr/>
        </p:nvSpPr>
        <p:spPr>
          <a:xfrm>
            <a:off x="5272088" y="5884134"/>
            <a:ext cx="119417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90E2"/>
                </a:solidFill>
              </a:rPr>
              <a:t>http://localhost:3000/gadgets</a:t>
            </a:r>
            <a:endParaRPr lang="en-US" sz="621" dirty="0"/>
          </a:p>
        </p:txBody>
      </p:sp>
      <p:sp>
        <p:nvSpPr>
          <p:cNvPr id="38" name="Text 35"/>
          <p:cNvSpPr/>
          <p:nvPr/>
        </p:nvSpPr>
        <p:spPr>
          <a:xfrm>
            <a:off x="771525" y="6085945"/>
            <a:ext cx="42862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3366"/>
                </a:solidFill>
              </a:rPr>
              <a:t>Incidents:</a:t>
            </a:r>
            <a:endParaRPr lang="en-US" sz="584" dirty="0"/>
          </a:p>
        </p:txBody>
      </p:sp>
      <p:sp>
        <p:nvSpPr>
          <p:cNvPr id="39" name="Text 36"/>
          <p:cNvSpPr/>
          <p:nvPr/>
        </p:nvSpPr>
        <p:spPr>
          <a:xfrm>
            <a:off x="1257300" y="6085945"/>
            <a:ext cx="1231962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90E2"/>
                </a:solidFill>
              </a:rPr>
              <a:t>http://localhost:3000/incidents</a:t>
            </a:r>
            <a:endParaRPr lang="en-US" sz="62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827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50094"/>
            <a:ext cx="4597003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Troubleshooting and Support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1500" y="1273011"/>
            <a:ext cx="4454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Issue</a:t>
            </a:r>
            <a:endParaRPr lang="en-US" sz="584" dirty="0"/>
          </a:p>
        </p:txBody>
      </p:sp>
      <p:sp>
        <p:nvSpPr>
          <p:cNvPr id="5" name="Text 2"/>
          <p:cNvSpPr/>
          <p:nvPr/>
        </p:nvSpPr>
        <p:spPr>
          <a:xfrm>
            <a:off x="571500" y="1446247"/>
            <a:ext cx="44541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Port 3000 Already in Use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571500" y="1681990"/>
            <a:ext cx="4454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90E2"/>
                </a:solidFill>
              </a:rPr>
              <a:t>Solution</a:t>
            </a:r>
            <a:endParaRPr lang="en-US" sz="584" dirty="0"/>
          </a:p>
        </p:txBody>
      </p:sp>
      <p:sp>
        <p:nvSpPr>
          <p:cNvPr id="7" name="Text 4"/>
          <p:cNvSpPr/>
          <p:nvPr/>
        </p:nvSpPr>
        <p:spPr>
          <a:xfrm>
            <a:off x="571500" y="1855226"/>
            <a:ext cx="44541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Change the PORT variable in server.js or set the PORT environment variable to an available port number.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571500" y="2276708"/>
            <a:ext cx="4454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Issue</a:t>
            </a:r>
            <a:endParaRPr lang="en-US" sz="584" dirty="0"/>
          </a:p>
        </p:txBody>
      </p:sp>
      <p:sp>
        <p:nvSpPr>
          <p:cNvPr id="9" name="Text 6"/>
          <p:cNvSpPr/>
          <p:nvPr/>
        </p:nvSpPr>
        <p:spPr>
          <a:xfrm>
            <a:off x="571500" y="2449943"/>
            <a:ext cx="44541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MySQL Connection Error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71500" y="2685687"/>
            <a:ext cx="4454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90E2"/>
                </a:solidFill>
              </a:rPr>
              <a:t>Solution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571500" y="2858923"/>
            <a:ext cx="44541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Verify MySQL server is running, check config/database.js for correct user and password credentials, and ensure the student_gadget_system database was created using sql script.txt.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71500" y="3280404"/>
            <a:ext cx="4454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Issue</a:t>
            </a:r>
            <a:endParaRPr lang="en-US" sz="584" dirty="0"/>
          </a:p>
        </p:txBody>
      </p:sp>
      <p:sp>
        <p:nvSpPr>
          <p:cNvPr id="13" name="Text 10"/>
          <p:cNvSpPr/>
          <p:nvPr/>
        </p:nvSpPr>
        <p:spPr>
          <a:xfrm>
            <a:off x="571500" y="3453640"/>
            <a:ext cx="445412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API Returns 404 Error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71500" y="3689384"/>
            <a:ext cx="445412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A90E2"/>
                </a:solidFill>
              </a:rPr>
              <a:t>Solution</a:t>
            </a:r>
            <a:endParaRPr lang="en-US" sz="584" dirty="0"/>
          </a:p>
        </p:txBody>
      </p:sp>
      <p:sp>
        <p:nvSpPr>
          <p:cNvPr id="15" name="Text 12"/>
          <p:cNvSpPr/>
          <p:nvPr/>
        </p:nvSpPr>
        <p:spPr>
          <a:xfrm>
            <a:off x="571500" y="3862620"/>
            <a:ext cx="445412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Check the URL against the API Endpoints Reference documentation and verify that the server is running and accessible on localhost:3000.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28625" y="4469839"/>
            <a:ext cx="45970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3366"/>
                </a:solidFill>
              </a:rPr>
              <a:t>Maintenance Best Practices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28625" y="4691295"/>
            <a:ext cx="1143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600075" y="4691295"/>
            <a:ext cx="240995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Clear, modular file structure for easy code maintenance</a:t>
            </a:r>
            <a:endParaRPr lang="en-US" sz="674" dirty="0"/>
          </a:p>
        </p:txBody>
      </p:sp>
      <p:sp>
        <p:nvSpPr>
          <p:cNvPr id="19" name="Text 16"/>
          <p:cNvSpPr/>
          <p:nvPr/>
        </p:nvSpPr>
        <p:spPr>
          <a:xfrm>
            <a:off x="428625" y="4878456"/>
            <a:ext cx="1143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600075" y="4878456"/>
            <a:ext cx="182062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Comprehensive error handling in server.js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428625" y="5065616"/>
            <a:ext cx="1143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600075" y="5065616"/>
            <a:ext cx="185645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Regular database backups and monitoring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428625" y="5252777"/>
            <a:ext cx="11430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A90E2"/>
                </a:solidFill>
              </a:rPr>
              <a:t>•</a:t>
            </a:r>
            <a:endParaRPr lang="en-US" sz="634" dirty="0"/>
          </a:p>
        </p:txBody>
      </p:sp>
      <p:sp>
        <p:nvSpPr>
          <p:cNvPr id="24" name="Text 21"/>
          <p:cNvSpPr/>
          <p:nvPr/>
        </p:nvSpPr>
        <p:spPr>
          <a:xfrm>
            <a:off x="600075" y="5252777"/>
            <a:ext cx="1759874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Keep dependencies updated for security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5691783" y="1619817"/>
            <a:ext cx="2428875" cy="2428875"/>
          </a:xfrm>
          <a:prstGeom prst="rect">
            <a:avLst/>
          </a:prstGeom>
          <a:solidFill>
            <a:srgbClr val="E8EEF5"/>
          </a:solidFill>
          <a:ln w="18288">
            <a:solidFill>
              <a:srgbClr val="4A90E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34645" y="1662680"/>
            <a:ext cx="2400300" cy="240030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FF6B35"/>
            </a:solidFill>
            <a:prstDash val="dash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1783" y="1619817"/>
            <a:ext cx="242887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9366" y="1643063"/>
            <a:ext cx="2143125" cy="2143125"/>
          </a:xfrm>
          <a:prstGeom prst="rect">
            <a:avLst/>
          </a:prstGeom>
          <a:solidFill>
            <a:srgbClr val="E8EEF5"/>
          </a:solidFill>
          <a:ln w="18288">
            <a:solidFill>
              <a:srgbClr val="FF6B3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2228" y="1685925"/>
            <a:ext cx="2114550" cy="2114550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4A90E2"/>
            </a:solidFill>
            <a:prstDash val="dash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678" y="1857375"/>
            <a:ext cx="1714500" cy="1714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1856" y="1035118"/>
            <a:ext cx="5293491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3366"/>
                </a:solidFill>
              </a:rPr>
              <a:t>Next Steps for System Evolution</a:t>
            </a:r>
            <a:endParaRPr lang="en-US" sz="1808" dirty="0"/>
          </a:p>
        </p:txBody>
      </p:sp>
      <p:sp>
        <p:nvSpPr>
          <p:cNvPr id="7" name="Shape 3"/>
          <p:cNvSpPr/>
          <p:nvPr/>
        </p:nvSpPr>
        <p:spPr>
          <a:xfrm>
            <a:off x="3421856" y="1608041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4"/>
          <p:cNvSpPr/>
          <p:nvPr/>
        </p:nvSpPr>
        <p:spPr>
          <a:xfrm>
            <a:off x="3421856" y="1608041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9" name="Text 5"/>
          <p:cNvSpPr/>
          <p:nvPr/>
        </p:nvSpPr>
        <p:spPr>
          <a:xfrm>
            <a:off x="3779044" y="1593754"/>
            <a:ext cx="49363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User Authentication &amp; Authorization</a:t>
            </a:r>
            <a:endParaRPr lang="en-US" sz="734" dirty="0"/>
          </a:p>
        </p:txBody>
      </p:sp>
      <p:sp>
        <p:nvSpPr>
          <p:cNvPr id="10" name="Text 6"/>
          <p:cNvSpPr/>
          <p:nvPr/>
        </p:nvSpPr>
        <p:spPr>
          <a:xfrm>
            <a:off x="3779044" y="1775920"/>
            <a:ext cx="4936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Implement secure login system with role-based access control for Admin, Staff, and Student roles.</a:t>
            </a:r>
            <a:endParaRPr lang="en-US" sz="674" dirty="0"/>
          </a:p>
        </p:txBody>
      </p:sp>
      <p:sp>
        <p:nvSpPr>
          <p:cNvPr id="11" name="Shape 7"/>
          <p:cNvSpPr/>
          <p:nvPr/>
        </p:nvSpPr>
        <p:spPr>
          <a:xfrm>
            <a:off x="3421856" y="2343848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8"/>
          <p:cNvSpPr/>
          <p:nvPr/>
        </p:nvSpPr>
        <p:spPr>
          <a:xfrm>
            <a:off x="3421856" y="2343848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3779044" y="2329560"/>
            <a:ext cx="49363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Email Notifications</a:t>
            </a:r>
            <a:endParaRPr lang="en-US" sz="734" dirty="0"/>
          </a:p>
        </p:txBody>
      </p:sp>
      <p:sp>
        <p:nvSpPr>
          <p:cNvPr id="14" name="Text 10"/>
          <p:cNvSpPr/>
          <p:nvPr/>
        </p:nvSpPr>
        <p:spPr>
          <a:xfrm>
            <a:off x="3779044" y="2511726"/>
            <a:ext cx="4936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Automated alerts for expiring warranties, insurance policies, and important system events.</a:t>
            </a:r>
            <a:endParaRPr lang="en-US" sz="674" dirty="0"/>
          </a:p>
        </p:txBody>
      </p:sp>
      <p:sp>
        <p:nvSpPr>
          <p:cNvPr id="15" name="Shape 11"/>
          <p:cNvSpPr/>
          <p:nvPr/>
        </p:nvSpPr>
        <p:spPr>
          <a:xfrm>
            <a:off x="3421856" y="3079654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2"/>
          <p:cNvSpPr/>
          <p:nvPr/>
        </p:nvSpPr>
        <p:spPr>
          <a:xfrm>
            <a:off x="3421856" y="3079654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3779044" y="3065366"/>
            <a:ext cx="49363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Report Export Functionality</a:t>
            </a:r>
            <a:endParaRPr lang="en-US" sz="734" dirty="0"/>
          </a:p>
        </p:txBody>
      </p:sp>
      <p:sp>
        <p:nvSpPr>
          <p:cNvPr id="18" name="Text 14"/>
          <p:cNvSpPr/>
          <p:nvPr/>
        </p:nvSpPr>
        <p:spPr>
          <a:xfrm>
            <a:off x="3779044" y="3247532"/>
            <a:ext cx="4936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Export data tables and reports to PDF and Excel formats for administrative documentation.</a:t>
            </a:r>
            <a:endParaRPr lang="en-US" sz="674" dirty="0"/>
          </a:p>
        </p:txBody>
      </p:sp>
      <p:sp>
        <p:nvSpPr>
          <p:cNvPr id="19" name="Shape 15"/>
          <p:cNvSpPr/>
          <p:nvPr/>
        </p:nvSpPr>
        <p:spPr>
          <a:xfrm>
            <a:off x="3421856" y="3815460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6"/>
          <p:cNvSpPr/>
          <p:nvPr/>
        </p:nvSpPr>
        <p:spPr>
          <a:xfrm>
            <a:off x="3421856" y="3815460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21" name="Text 17"/>
          <p:cNvSpPr/>
          <p:nvPr/>
        </p:nvSpPr>
        <p:spPr>
          <a:xfrm>
            <a:off x="3779044" y="3801173"/>
            <a:ext cx="49363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Advanced Search &amp; Filtering</a:t>
            </a:r>
            <a:endParaRPr lang="en-US" sz="734" dirty="0"/>
          </a:p>
        </p:txBody>
      </p:sp>
      <p:sp>
        <p:nvSpPr>
          <p:cNvPr id="22" name="Text 18"/>
          <p:cNvSpPr/>
          <p:nvPr/>
        </p:nvSpPr>
        <p:spPr>
          <a:xfrm>
            <a:off x="3779044" y="3983338"/>
            <a:ext cx="4936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Sophisticated search capabilities with multi-criteria filtering across all data tables.</a:t>
            </a:r>
            <a:endParaRPr lang="en-US" sz="674" dirty="0"/>
          </a:p>
        </p:txBody>
      </p:sp>
      <p:sp>
        <p:nvSpPr>
          <p:cNvPr id="23" name="Shape 19"/>
          <p:cNvSpPr/>
          <p:nvPr/>
        </p:nvSpPr>
        <p:spPr>
          <a:xfrm>
            <a:off x="3421856" y="4551266"/>
            <a:ext cx="257175" cy="2571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0"/>
          <p:cNvSpPr/>
          <p:nvPr/>
        </p:nvSpPr>
        <p:spPr>
          <a:xfrm>
            <a:off x="3421856" y="4551266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5</a:t>
            </a:r>
            <a:endParaRPr lang="en-US" sz="784" dirty="0"/>
          </a:p>
        </p:txBody>
      </p:sp>
      <p:sp>
        <p:nvSpPr>
          <p:cNvPr id="25" name="Text 21"/>
          <p:cNvSpPr/>
          <p:nvPr/>
        </p:nvSpPr>
        <p:spPr>
          <a:xfrm>
            <a:off x="3779044" y="4536979"/>
            <a:ext cx="493630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3366"/>
                </a:solidFill>
              </a:rPr>
              <a:t>Mobile Companion Application</a:t>
            </a:r>
            <a:endParaRPr lang="en-US" sz="734" dirty="0"/>
          </a:p>
        </p:txBody>
      </p:sp>
      <p:sp>
        <p:nvSpPr>
          <p:cNvPr id="26" name="Text 22"/>
          <p:cNvSpPr/>
          <p:nvPr/>
        </p:nvSpPr>
        <p:spPr>
          <a:xfrm>
            <a:off x="3779044" y="4719145"/>
            <a:ext cx="4936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Native mobile app for iOS and Android enabling on-the-go access and incident reporting.</a:t>
            </a:r>
            <a:endParaRPr lang="en-US" sz="67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88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29244" y="671513"/>
            <a:ext cx="5085485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</a:rPr>
              <a:t>SGRMS: Ready for Deployment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2143125" y="1440163"/>
            <a:ext cx="428625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2"/>
          <p:cNvSpPr/>
          <p:nvPr/>
        </p:nvSpPr>
        <p:spPr>
          <a:xfrm>
            <a:off x="2143125" y="144016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✓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2049335" y="1983088"/>
            <a:ext cx="6162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Complete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1643063" y="2229548"/>
            <a:ext cx="14287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Full-stack application with all core features implemented and tested</a:t>
            </a:r>
            <a:endParaRPr lang="en-US" sz="674" dirty="0"/>
          </a:p>
        </p:txBody>
      </p:sp>
      <p:sp>
        <p:nvSpPr>
          <p:cNvPr id="8" name="Shape 5"/>
          <p:cNvSpPr/>
          <p:nvPr/>
        </p:nvSpPr>
        <p:spPr>
          <a:xfrm>
            <a:off x="4357688" y="1440163"/>
            <a:ext cx="428625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4357688" y="144016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📋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4159337" y="1983088"/>
            <a:ext cx="82529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Documented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3857625" y="2229548"/>
            <a:ext cx="14287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Comprehensive documentation and quick-start guide available for users</a:t>
            </a:r>
            <a:endParaRPr lang="en-US" sz="674" dirty="0"/>
          </a:p>
        </p:txBody>
      </p:sp>
      <p:sp>
        <p:nvSpPr>
          <p:cNvPr id="12" name="Shape 9"/>
          <p:cNvSpPr/>
          <p:nvPr/>
        </p:nvSpPr>
        <p:spPr>
          <a:xfrm>
            <a:off x="6572250" y="1440163"/>
            <a:ext cx="428625" cy="42862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6572250" y="1440163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🔧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6455383" y="1983088"/>
            <a:ext cx="6623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</a:rPr>
              <a:t>Extensible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072188" y="2229548"/>
            <a:ext cx="142875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Modular architecture ready for future enhancements and integrations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4188944" y="3447557"/>
            <a:ext cx="76611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</a:rPr>
              <a:t>Next Steps</a:t>
            </a:r>
            <a:endParaRPr lang="en-US" sz="987" dirty="0"/>
          </a:p>
        </p:txBody>
      </p:sp>
      <p:sp>
        <p:nvSpPr>
          <p:cNvPr id="17" name="Shape 14"/>
          <p:cNvSpPr/>
          <p:nvPr/>
        </p:nvSpPr>
        <p:spPr>
          <a:xfrm>
            <a:off x="3403997" y="3885112"/>
            <a:ext cx="357188" cy="3571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8" name="Text 15"/>
          <p:cNvSpPr/>
          <p:nvPr/>
        </p:nvSpPr>
        <p:spPr>
          <a:xfrm>
            <a:off x="3403997" y="388511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3153966" y="4299449"/>
            <a:ext cx="85725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Review Documentation</a:t>
            </a:r>
            <a:endParaRPr lang="en-US" sz="634" dirty="0"/>
          </a:p>
        </p:txBody>
      </p:sp>
      <p:sp>
        <p:nvSpPr>
          <p:cNvPr id="20" name="Shape 17"/>
          <p:cNvSpPr/>
          <p:nvPr/>
        </p:nvSpPr>
        <p:spPr>
          <a:xfrm>
            <a:off x="4424465" y="3885112"/>
            <a:ext cx="357188" cy="3571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1" name="Text 18"/>
          <p:cNvSpPr/>
          <p:nvPr/>
        </p:nvSpPr>
        <p:spPr>
          <a:xfrm>
            <a:off x="4424465" y="388511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22" name="Text 19"/>
          <p:cNvSpPr/>
          <p:nvPr/>
        </p:nvSpPr>
        <p:spPr>
          <a:xfrm>
            <a:off x="4296966" y="4299449"/>
            <a:ext cx="6122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Begin Testing</a:t>
            </a:r>
            <a:endParaRPr lang="en-US" sz="634" dirty="0"/>
          </a:p>
        </p:txBody>
      </p:sp>
      <p:sp>
        <p:nvSpPr>
          <p:cNvPr id="23" name="Shape 20"/>
          <p:cNvSpPr/>
          <p:nvPr/>
        </p:nvSpPr>
        <p:spPr>
          <a:xfrm>
            <a:off x="5413874" y="3885112"/>
            <a:ext cx="357188" cy="357188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4" name="Text 21"/>
          <p:cNvSpPr/>
          <p:nvPr/>
        </p:nvSpPr>
        <p:spPr>
          <a:xfrm>
            <a:off x="5413874" y="3885112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5194929" y="4299449"/>
            <a:ext cx="7950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3E50"/>
                </a:solidFill>
              </a:rPr>
              <a:t>Provide Feedback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1357313" y="5153127"/>
            <a:ext cx="64293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2C3E50"/>
                </a:solidFill>
              </a:rPr>
              <a:t>The Student Gadget Registration Management System is ready for integration, deployment, and production use. All CRUD operations are functional, all pages are interactive, and all API endpoints are available.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2025-12-01T16:51:18Z</dcterms:created>
  <dcterms:modified xsi:type="dcterms:W3CDTF">2025-12-01T16:51:18Z</dcterms:modified>
</cp:coreProperties>
</file>